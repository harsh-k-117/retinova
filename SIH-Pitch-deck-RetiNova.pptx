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Oswald" panose="00000500000000000000" pitchFamily="2" charset="0"/>
      <p:regular r:id="rId9"/>
      <p:bold r:id="rId10"/>
    </p:embeddedFont>
    <p:embeddedFont>
      <p:font typeface="Poppins" panose="00000500000000000000" pitchFamily="2" charset="0"/>
      <p:regular r:id="rId11"/>
      <p:bold r:id="rId12"/>
      <p:italic r:id="rId13"/>
      <p:boldItalic r:id="rId14"/>
    </p:embeddedFont>
    <p:embeddedFont>
      <p:font typeface="Poppins SemiBold" panose="000007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haan Aptekar" initials="" lastIdx="2" clrIdx="0"/>
  <p:cmAuthor id="1" name="Harsh Kulkarni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af6e1f523_13_0)">
  <p:cSld name="Generated (g3faf6e1f523_13_0)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abs/pii/S136184152100164X" TargetMode="External"/><Relationship Id="rId13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hyperlink" Target="http://adcis.net/en/third-party/messidor2" TargetMode="External"/><Relationship Id="rId12" Type="http://schemas.openxmlformats.org/officeDocument/2006/relationships/hyperlink" Target="https://www.aeyehealth.com/aeye-diagnostic-screen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rive.grand-challenge.org" TargetMode="External"/><Relationship Id="rId11" Type="http://schemas.openxmlformats.org/officeDocument/2006/relationships/hyperlink" Target="https://www.digitaldiagnostics.com/products/eye-disease/lumineticscore/" TargetMode="External"/><Relationship Id="rId5" Type="http://schemas.openxmlformats.org/officeDocument/2006/relationships/hyperlink" Target="http://ieee-dataport.org/open-access/indian-diabetic-retinopathy%E2%80%A6" TargetMode="External"/><Relationship Id="rId10" Type="http://schemas.openxmlformats.org/officeDocument/2006/relationships/hyperlink" Target="https://pubmed.ncbi.nlm.nih.gov/41010353/" TargetMode="External"/><Relationship Id="rId4" Type="http://schemas.openxmlformats.org/officeDocument/2006/relationships/hyperlink" Target="http://kaggle.com/c/aptos2019-blindness-detection" TargetMode="External"/><Relationship Id="rId9" Type="http://schemas.openxmlformats.org/officeDocument/2006/relationships/hyperlink" Target="https://www.sciencedirect.com/science/article/abs/pii/S136184151930103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0" y="0"/>
            <a:ext cx="12192000" cy="514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SMART INDIA HACKATHON 2026</a:t>
            </a:r>
            <a:endParaRPr sz="36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31275" y="1715875"/>
            <a:ext cx="5924700" cy="4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ID –</a:t>
            </a:r>
            <a:r>
              <a:rPr lang="en-US"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26038</a:t>
            </a:r>
            <a:endParaRPr sz="2200" b="1">
              <a:solidFill>
                <a:srgbClr val="1E2A5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Char char="•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Title - 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Explainable AI for Diabetic Retinopathy Screening in Rural India</a:t>
            </a:r>
            <a:endParaRPr sz="2200" b="1">
              <a:solidFill>
                <a:srgbClr val="1E2A5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Theme</a:t>
            </a:r>
            <a:r>
              <a:rPr lang="en-US"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200"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MedTech / BioTech / HealthTech</a:t>
            </a:r>
            <a:endParaRPr sz="2200" b="1">
              <a:solidFill>
                <a:srgbClr val="1E2A5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PS Category</a:t>
            </a:r>
            <a:r>
              <a:rPr lang="en-US"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200"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endParaRPr sz="2200" b="1">
              <a:solidFill>
                <a:srgbClr val="1E2A5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ID</a:t>
            </a:r>
            <a:r>
              <a:rPr lang="en-US"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200"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SW-17</a:t>
            </a:r>
            <a:endParaRPr sz="2200" b="1">
              <a:solidFill>
                <a:srgbClr val="1E2A5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– </a:t>
            </a:r>
            <a:r>
              <a:rPr lang="en-US" sz="2200"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RetiNova</a:t>
            </a:r>
            <a:endParaRPr sz="2200" b="1">
              <a:solidFill>
                <a:srgbClr val="1E2A5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i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title="ChatGPT Image Sep 1, 2026, 08_09_13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025" y="0"/>
            <a:ext cx="1389774" cy="13897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5" y="6354200"/>
            <a:ext cx="12192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SIH 2026 | Problem statement-26038 | RetiNova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fld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PROPOSED SOLUTION</a:t>
            </a:r>
            <a:endParaRPr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fld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ftr" idx="11"/>
          </p:nvPr>
        </p:nvSpPr>
        <p:spPr>
          <a:xfrm>
            <a:off x="0" y="6356325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SIH 2026 | Problem statement-26038 | RetiNova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title="ChatGPT Image Sep 1, 2026, 08_09_1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025" y="0"/>
            <a:ext cx="1389774" cy="138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Create a wide 3:1 horizontal infographic panel for a Smart India Hackathon presentation.&#10;&#10;Title: EXISTING PROBLEMS&#10;&#10;Show exactly 3 equal-sized cards arranged horizontally, side-by-side, using the same clean rounded-card style.&#10;&#10;Card 1&#10;&#10;POOR IMAGE QUALITY&#10;Icon: small minimal fundus-camera / blurry-image icon&#10;Text: Portable fundus cameras can produce blurry, poorly illuminated, or partially visible retinal images.&#10;&#10;Card 2&#10;&#10;BLACK-BOX AI&#10;Icon: small minimal AI brain with a question mark / opaque AI icon&#10;Text: AI predictions without visible clinical evidence make results difficult for doctors to trust and verify.&#10;&#10;Card 3&#10;&#10;LIMITED SPECIALIST ACCESS&#10;Icon: small minimal ophthalmologist/doctor + location/accessibility icon&#10;Text: Rural areas have limited access to ophthalmologists, making large-scale manual DR screening difficult.&#10;&#10;IMPORTANT DESIGN REQUIREMENTS:&#10;&#10;Do NOT include the word “RetiNova” anywhere.&#10;Do NOT include any tagline.&#10;Do NOT include any large photographs or retinal images.&#10;Use only small, simple, professional icons inside each card.&#10;No empty image/photo areas.&#10;Each card should be mostly text + icon.&#10;Use a navy + medical teal + subtle orange colour palette.&#10;White/light background.&#10;Rounded rectangular cards with subtle shadows.&#10;Navy card headers with white text are acceptable.&#10;Use large, highly readable sans-serif typography.&#10;Keep the body text short and clean.&#10;No extra sections, labels, logos, decorative text, or additional content.&#10;Make it look like a premium medical-AI hackathon presentation infographic, not a generic corporate template.&#10;All text must be spelled exactly as provided.&#10;Aspect ratio: 3:1 horizontal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038" y="1419588"/>
            <a:ext cx="6443214" cy="19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 &quot;Unique value proposition/ USP&quot; align this text to the center of the image properl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413" y="4809263"/>
            <a:ext cx="6372451" cy="11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7024" y="1143000"/>
            <a:ext cx="5082900" cy="508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Create a 4:0.75 ultra-wide horizontal infographic for a professional medical-AI presentation.&#10;&#10;At the top, write exactly:&#10;HOW RETINOVA HELPS&#10;&#10;Below the heading, create exactly 3 equal-sized sections, aligned horizontally with generous spacing.&#10;&#10;1 — BETTER IMAGES&#10;&#10;Quality-aware screening + enhancement&#10;Icon: clean retinal image with a checkmark.&#10;&#10;2 — CLEARER DECISIONS&#10;&#10;Explainable AI + clinical evidence&#10;Icon: AI/retina with a simple Grad-CAM heatmap.&#10;&#10;3 — FASTER REFERRAL&#10;&#10;Clinician-assisted screening + referral&#10;Icon: ophthalmologist with a referral/checkmark symbol.&#10;&#10;TEXT IS THE PRIORITY:&#10;&#10;Use a large, bold, highly readable sans-serif font.&#10;Heading should be clearly larger than card titles.&#10;Card titles should be bold and prominent.&#10;Supporting text should be short but clearly readable.&#10;Do NOT make text tiny to fit the layout.&#10;Spell every word exactly as provided.&#10;&#10;VISUAL STYLE:&#10;Premium medical AI / HealthTech. White background, deep navy, medical teal, subtle orange accents. Minimal professional vector icons. Clean rounded containers with very subtle shadows. Balanced spacing.&#10;&#10;STRICTLY DO NOT INCLUDE:&#10;RetiNova logo/name, tagline, SIH logo, photographs, large images, architecture diagrams, arrows between the three sections, paragraphs, extra labels, or any additional text.&#10;&#10;The final result should be simple, elegant, compact, and immediately understandable in 3 seconds.&#10;&#10;Aspect ratio: exactly 4:0.75.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7800" y="3429000"/>
            <a:ext cx="6301626" cy="12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389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APPROACH</a:t>
            </a:r>
            <a:endParaRPr sz="36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fld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16"/>
          <p:cNvSpPr txBox="1">
            <a:spLocks noGrp="1"/>
          </p:cNvSpPr>
          <p:nvPr>
            <p:ph type="ftr" idx="11"/>
          </p:nvPr>
        </p:nvSpPr>
        <p:spPr>
          <a:xfrm>
            <a:off x="0" y="6356350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SIH 2026 | Problem statement-26038 | RetiNova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title="ChatGPT Image Sep 1, 2026, 08_09_1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025" y="0"/>
            <a:ext cx="1389774" cy="138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 rotWithShape="1">
          <a:blip r:embed="rId5">
            <a:alphaModFix/>
          </a:blip>
          <a:srcRect l="1778" t="11056" b="43817"/>
          <a:stretch>
            <a:fillRect/>
          </a:stretch>
        </p:blipFill>
        <p:spPr>
          <a:xfrm>
            <a:off x="161213" y="1340773"/>
            <a:ext cx="7912475" cy="246926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/>
          <p:nvPr/>
        </p:nvSpPr>
        <p:spPr>
          <a:xfrm>
            <a:off x="5625896" y="5382654"/>
            <a:ext cx="795600" cy="2076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7;p16" title="ChatGPT Image Sep 3, 2026, 08_18_00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7329" y="1340773"/>
            <a:ext cx="3940426" cy="486290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6824000" y="5772450"/>
            <a:ext cx="1087200" cy="231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7002300" y="5345875"/>
            <a:ext cx="998700" cy="3213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4858275" y="4511625"/>
            <a:ext cx="562200" cy="655800"/>
          </a:xfrm>
          <a:prstGeom prst="rect">
            <a:avLst/>
          </a:prstGeom>
          <a:solidFill>
            <a:srgbClr val="DEF2EF"/>
          </a:solidFill>
          <a:ln w="9525" cap="flat" cmpd="sng">
            <a:solidFill>
              <a:srgbClr val="DE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0D00B-1F48-11FC-886E-9337E033A8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4157"/>
          <a:stretch>
            <a:fillRect/>
          </a:stretch>
        </p:blipFill>
        <p:spPr>
          <a:xfrm>
            <a:off x="243605" y="4109083"/>
            <a:ext cx="2056008" cy="2116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254DF8-A74F-D4E8-7FB4-F433B6E8C00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822" b="15360"/>
          <a:stretch>
            <a:fillRect/>
          </a:stretch>
        </p:blipFill>
        <p:spPr>
          <a:xfrm>
            <a:off x="2392072" y="4055513"/>
            <a:ext cx="5595257" cy="2116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FEASIBILITY AND VIABILITY</a:t>
            </a:r>
            <a:endParaRPr sz="36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8" name="Google Shape;138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17"/>
          <p:cNvSpPr txBox="1">
            <a:spLocks noGrp="1"/>
          </p:cNvSpPr>
          <p:nvPr>
            <p:ph type="ftr" idx="11"/>
          </p:nvPr>
        </p:nvSpPr>
        <p:spPr>
          <a:xfrm>
            <a:off x="0" y="6356350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SIH 2026 | Problem statement-26038 | RetiNova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title="ChatGPT Image Sep 1, 2026, 08_09_1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025" y="0"/>
            <a:ext cx="1389774" cy="138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Create a 3:1 horizontal infographic strip titled FEASIBILITY for a professional medical-AI presentation.&#10;&#10;Create three equal-sized visual cards:&#10;&#10;1. TECHNICAL FEASIBILITY&#10;&#10;Icon/visual: MATLAB + retinal AI processing&#10;MATLAB ecosystem supports:&#10;Image Processing • Computer Vision • Deep Learning • Medical Imaging • Simulink&#10;&#10;2. DATA &amp; VALIDATION FEASIBILITY&#10;&#10;Icon/visual: retinal datasets + validation chart&#10;Published datasets:&#10;APTOS 2019 • IDRiD • DRIVE • Messidor-2&#10;Cross-dataset evaluation + unseen-image testing&#10;&#10;3. DEPLOYMENT FEASIBILITY&#10;&#10;Icon/visual: portable fundus camera + rural PHC + telemedicine&#10;Designed for:&#10;Portable fundus cameras • Primary Health Centres • Telemedicine&#10;Human-in-the-loop clinical review&#10;&#10;Design&#10;Make the three card titles large and bold.&#10;Supporting information should be clearly readable, not tiny.&#10;Use icons/mini-illustrations to reinforce each concept.&#10;Use subtle visual connections between Technology → Data → Deployment.&#10;Premium medical-AI / HealthTech aesthetic.&#10;White/light background.&#10;Deep navy + medical teal + subtle orange.&#10;Rounded cards with subtle shadows.&#10;Dense enough to communicate substance, but not cluttered.&#10;&#10;Do NOT include: RetiNova, tagline, SIH logo, photographs, market/ROI claims, invented technologies, or unrelated content.&#10;&#10;Use exactly the terminology and technologies provided. Prioritize accurate, readable text over decorative detail.&#10;&#10;Aspect ratio: exactly 3:1 horizontal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8813" y="1389775"/>
            <a:ext cx="6941125" cy="22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Create a 3:1 horizontal infographic titled CHALLENGES &amp; OUR APPROACH for a professional medical-AI presentation.&#10;&#10;Create a clean two-column visual comparison:&#10;&#10;LEFT: CHALLENGES&#10;&#10;Poor Image Quality&#10;Tiny Lesions&#10;Uneven Data&#10;Black-box AI&#10;Limited Doctors &amp; Bandwidth&#10;&#10;RIGHT: OUR APPROACH&#10;&#10;Quality Check + Image Enhancement&#10;Multi-scale Lesion Analysis&#10;Balanced Training + Proper Evaluation&#10;Grad-CAM + Lesion Evidence&#10;Human-in-the-loop + Simulink&#10;&#10;Connect each challenge to its corresponding solution with clear visual connectors/arrows.&#10;&#10;Use a small, meaningful medical/AI icon for each row.&#10;&#10;Design: premium medical-AI, clean white background, navy + teal, subtle orange for emphasis, red only for challenges, rounded rows/cards, minimal vector icons.&#10;&#10;Make all text large, bold and highly readable. No tiny text.&#10;&#10;Keep the content concise and exactly as written. No paragraphs.&#10;&#10;Do NOT include: RetiNova, tagline, SIH logo, photographs, extra claims, additional challenges, or additional solutions.&#10;&#10;The visual should communicate “problem → how we overcome it” instantly.&#10;&#10;Aspect ratio: exactly 3:1 horizontal."/>
          <p:cNvPicPr preferRelativeResize="0"/>
          <p:nvPr/>
        </p:nvPicPr>
        <p:blipFill rotWithShape="1">
          <a:blip r:embed="rId6">
            <a:alphaModFix/>
          </a:blip>
          <a:srcRect t="11253"/>
          <a:stretch/>
        </p:blipFill>
        <p:spPr>
          <a:xfrm>
            <a:off x="5088775" y="3763999"/>
            <a:ext cx="6941201" cy="22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title="ChatGPT Image Sep 1, 2026, 11_32_23 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325" y="1394924"/>
            <a:ext cx="4660190" cy="4660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IMPACT AND BENEFITS</a:t>
            </a:r>
            <a:endParaRPr sz="36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18"/>
          <p:cNvSpPr txBox="1">
            <a:spLocks noGrp="1"/>
          </p:cNvSpPr>
          <p:nvPr>
            <p:ph type="ftr" idx="11"/>
          </p:nvPr>
        </p:nvSpPr>
        <p:spPr>
          <a:xfrm>
            <a:off x="0" y="6356350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SIH 2026 | Problem statement-26038 | RetiNova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296063" y="1389779"/>
            <a:ext cx="2853900" cy="62400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>
            <a:noFill/>
          </a:ln>
        </p:spPr>
        <p:txBody>
          <a:bodyPr spcFirstLastPara="1" wrap="square" lIns="30700" tIns="6150" rIns="30700" bIns="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Rural Diabetic Patients</a:t>
            </a:r>
            <a:endParaRPr sz="174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211275" y="1402100"/>
            <a:ext cx="2853900" cy="62400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>
            <a:noFill/>
          </a:ln>
        </p:spPr>
        <p:txBody>
          <a:bodyPr spcFirstLastPara="1" wrap="square" lIns="30700" tIns="6150" rIns="30700" bIns="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PHCs &amp; ASHA Workers</a:t>
            </a:r>
            <a:endParaRPr sz="174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126550" y="1402125"/>
            <a:ext cx="2853900" cy="62400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>
            <a:noFill/>
          </a:ln>
        </p:spPr>
        <p:txBody>
          <a:bodyPr spcFirstLastPara="1" wrap="square" lIns="30700" tIns="6150" rIns="30700" bIns="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Tele-Ophthalmologists</a:t>
            </a:r>
            <a:endParaRPr sz="174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9041825" y="1402150"/>
            <a:ext cx="2853900" cy="62400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>
            <a:noFill/>
          </a:ln>
        </p:spPr>
        <p:txBody>
          <a:bodyPr spcFirstLastPara="1" wrap="square" lIns="30700" tIns="6150" rIns="30700" bIns="6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District Health Programs</a:t>
            </a:r>
            <a:endParaRPr sz="174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96200" y="2121150"/>
            <a:ext cx="2853900" cy="2635800"/>
          </a:xfrm>
          <a:prstGeom prst="roundRect">
            <a:avLst>
              <a:gd name="adj" fmla="val 16667"/>
            </a:avLst>
          </a:prstGeom>
          <a:solidFill>
            <a:srgbClr val="F0F4F7"/>
          </a:solidFill>
          <a:ln w="162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125" tIns="92125" rIns="92125" bIns="6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rPr>
              <a:t>👁️Patient </a:t>
            </a:r>
            <a:endParaRPr sz="1740" b="1">
              <a:solidFill>
                <a:srgbClr val="02809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rPr>
              <a:t>Impact</a:t>
            </a:r>
            <a:endParaRPr sz="174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2"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717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Earlier DR detection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Faster referral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Timely treatment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Reduced vision loss risk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211475" y="2121150"/>
            <a:ext cx="2853900" cy="2635800"/>
          </a:xfrm>
          <a:prstGeom prst="roundRect">
            <a:avLst>
              <a:gd name="adj" fmla="val 16667"/>
            </a:avLst>
          </a:prstGeom>
          <a:solidFill>
            <a:srgbClr val="F0F4F7"/>
          </a:solidFill>
          <a:ln w="16250" cap="flat" cmpd="sng">
            <a:solidFill>
              <a:srgbClr val="1E2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125" tIns="92125" rIns="92125" bIns="6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8"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🏥 Healthcare </a:t>
            </a:r>
            <a:endParaRPr sz="1638" b="1">
              <a:solidFill>
                <a:srgbClr val="1E2A5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8"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Impact</a:t>
            </a:r>
            <a:endParaRPr sz="102"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717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AI-assisted screening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Doctors focus on high-risk cases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Enables telemedicine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0" algn="l" rtl="0">
              <a:spcBef>
                <a:spcPts val="717"/>
              </a:spcBef>
              <a:spcAft>
                <a:spcPts val="0"/>
              </a:spcAft>
              <a:buNone/>
            </a:pP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126750" y="2111100"/>
            <a:ext cx="2853900" cy="2635800"/>
          </a:xfrm>
          <a:prstGeom prst="roundRect">
            <a:avLst>
              <a:gd name="adj" fmla="val 16667"/>
            </a:avLst>
          </a:prstGeom>
          <a:solidFill>
            <a:srgbClr val="F0F4F7"/>
          </a:solidFill>
          <a:ln w="1625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125" tIns="92125" rIns="92125" bIns="6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rPr>
              <a:t>🤖 Technology Impact</a:t>
            </a:r>
            <a:endParaRPr sz="174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717"/>
              </a:spcBef>
              <a:spcAft>
                <a:spcPts val="0"/>
              </a:spcAft>
              <a:buNone/>
            </a:pPr>
            <a:endParaRPr sz="102"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717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Explainable AI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Faster result verification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Evidence-based decisions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9042025" y="2111100"/>
            <a:ext cx="2853900" cy="2635800"/>
          </a:xfrm>
          <a:prstGeom prst="roundRect">
            <a:avLst>
              <a:gd name="adj" fmla="val 16667"/>
            </a:avLst>
          </a:prstGeom>
          <a:solidFill>
            <a:srgbClr val="F0F4F7"/>
          </a:solidFill>
          <a:ln w="16250" cap="flat" cmpd="sng">
            <a:solidFill>
              <a:srgbClr val="1E2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125" tIns="92125" rIns="92125" bIns="6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0"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rPr>
              <a:t>📊 System-Level Impact</a:t>
            </a:r>
            <a:endParaRPr sz="1740" b="1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717"/>
              </a:spcBef>
              <a:spcAft>
                <a:spcPts val="0"/>
              </a:spcAft>
              <a:buNone/>
            </a:pPr>
            <a:endParaRPr sz="102"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717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Simulink-based resource planning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Better bandwidth usage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lvl="0" indent="-338005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38"/>
              <a:buFont typeface="Poppins"/>
              <a:buChar char="●"/>
            </a:pPr>
            <a:r>
              <a:rPr lang="en-US" sz="1638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Better doctor workload planning</a:t>
            </a:r>
            <a:endParaRPr sz="1638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8008" marR="0" lvl="0" indent="0" algn="l" rtl="0">
              <a:spcBef>
                <a:spcPts val="717"/>
              </a:spcBef>
              <a:spcAft>
                <a:spcPts val="0"/>
              </a:spcAft>
              <a:buNone/>
            </a:pPr>
            <a:endParaRPr sz="1433">
              <a:solidFill>
                <a:srgbClr val="2222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3" name="Google Shape;163;p18" title="ChatGPT Image Sep 1, 2026, 08_09_1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025" y="0"/>
            <a:ext cx="1389774" cy="138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title="ChatGPT Image Sep 4, 2026, 11_03_09 AM.png"/>
          <p:cNvPicPr preferRelativeResize="0"/>
          <p:nvPr/>
        </p:nvPicPr>
        <p:blipFill rotWithShape="1">
          <a:blip r:embed="rId5">
            <a:alphaModFix/>
          </a:blip>
          <a:srcRect l="1465" t="29327" r="889" b="33357"/>
          <a:stretch/>
        </p:blipFill>
        <p:spPr>
          <a:xfrm>
            <a:off x="247675" y="4804000"/>
            <a:ext cx="11696666" cy="15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RESEARCH  AND REFERENCES</a:t>
            </a:r>
            <a:endParaRPr sz="36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ftr" idx="11"/>
          </p:nvPr>
        </p:nvSpPr>
        <p:spPr>
          <a:xfrm>
            <a:off x="0" y="6356350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SIH 2026 | Problem statement-26038 | RetiNova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4" name="Google Shape;17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571500" y="1389743"/>
            <a:ext cx="5334000" cy="4703312"/>
            <a:chOff x="571500" y="1285875"/>
            <a:chExt cx="5334000" cy="3524400"/>
          </a:xfrm>
        </p:grpSpPr>
        <p:sp>
          <p:nvSpPr>
            <p:cNvPr id="176" name="Google Shape;176;p19"/>
            <p:cNvSpPr/>
            <p:nvPr/>
          </p:nvSpPr>
          <p:spPr>
            <a:xfrm>
              <a:off x="571500" y="1285875"/>
              <a:ext cx="5334000" cy="352440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19050" cap="flat" cmpd="sng">
              <a:solidFill>
                <a:srgbClr val="E4EC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571500" y="1285875"/>
              <a:ext cx="5334000" cy="476400"/>
            </a:xfrm>
            <a:prstGeom prst="roundRect">
              <a:avLst>
                <a:gd name="adj" fmla="val 32000"/>
              </a:avLst>
            </a:prstGeom>
            <a:solidFill>
              <a:srgbClr val="1E2A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571500" y="1571625"/>
              <a:ext cx="5334000" cy="190500"/>
            </a:xfrm>
            <a:prstGeom prst="rect">
              <a:avLst/>
            </a:prstGeom>
            <a:solidFill>
              <a:srgbClr val="1E2A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762000" y="1285875"/>
              <a:ext cx="495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Datasets Used or Training &amp; Validation</a:t>
              </a:r>
              <a:endParaRPr sz="1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762000" y="1905001"/>
              <a:ext cx="4953000" cy="28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1E2A5E"/>
                  </a:solidFill>
                  <a:latin typeface="Poppins"/>
                  <a:ea typeface="Poppins"/>
                  <a:cs typeface="Poppins"/>
                  <a:sym typeface="Poppins"/>
                </a:rPr>
                <a:t>1. APTOS 2019 Blindness Detection</a:t>
              </a:r>
              <a:endParaRPr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b="1" u="sng">
                  <a:solidFill>
                    <a:schemeClr val="hlink"/>
                  </a:solidFill>
                  <a:latin typeface="Poppins"/>
                  <a:ea typeface="Poppins"/>
                  <a:cs typeface="Poppins"/>
                  <a:sym typeface="Poppins"/>
                  <a:hlinkClick r:id="rId4"/>
                </a:rPr>
                <a:t>kaggle.com/c/aptos2019-blindness-detection</a:t>
              </a:r>
              <a:endParaRPr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endParaRPr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1E2A5E"/>
                  </a:solidFill>
                  <a:latin typeface="Poppins"/>
                  <a:ea typeface="Poppins"/>
                  <a:cs typeface="Poppins"/>
                  <a:sym typeface="Poppins"/>
                </a:rPr>
                <a:t>2. IDRiD – Indian Diabetic Retinopathy Image Dataset</a:t>
              </a:r>
              <a:endParaRPr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b="1" u="sng">
                  <a:solidFill>
                    <a:schemeClr val="hlink"/>
                  </a:solidFill>
                  <a:latin typeface="Poppins"/>
                  <a:ea typeface="Poppins"/>
                  <a:cs typeface="Poppins"/>
                  <a:sym typeface="Poppins"/>
                  <a:hlinkClick r:id="rId5"/>
                </a:rPr>
                <a:t>https://ieeedataport.org/open-access/indian-diabetic-retinopathy-image-dataset-idrid</a:t>
              </a:r>
              <a:endParaRPr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endParaRPr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1E2A5E"/>
                  </a:solidFill>
                  <a:latin typeface="Poppins"/>
                  <a:ea typeface="Poppins"/>
                  <a:cs typeface="Poppins"/>
                  <a:sym typeface="Poppins"/>
                </a:rPr>
                <a:t>3. DRIVE – Digital Retinal Images for Vessel Extraction</a:t>
              </a:r>
              <a:endParaRPr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b="1" u="sng">
                  <a:solidFill>
                    <a:schemeClr val="hlink"/>
                  </a:solidFill>
                  <a:latin typeface="Poppins"/>
                  <a:ea typeface="Poppins"/>
                  <a:cs typeface="Poppins"/>
                  <a:sym typeface="Poppins"/>
                  <a:hlinkClick r:id="rId6"/>
                </a:rPr>
                <a:t>drive.grand-challenge.org</a:t>
              </a:r>
              <a:endParaRPr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endParaRPr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1E2A5E"/>
                  </a:solidFill>
                  <a:latin typeface="Poppins"/>
                  <a:ea typeface="Poppins"/>
                  <a:cs typeface="Poppins"/>
                  <a:sym typeface="Poppins"/>
                </a:rPr>
                <a:t>4. Messidor-2</a:t>
              </a:r>
              <a:endParaRPr b="1">
                <a:solidFill>
                  <a:srgbClr val="1E2A5E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b="1" u="sng">
                  <a:solidFill>
                    <a:schemeClr val="hlink"/>
                  </a:solidFill>
                  <a:latin typeface="Poppins"/>
                  <a:ea typeface="Poppins"/>
                  <a:cs typeface="Poppins"/>
                  <a:sym typeface="Poppins"/>
                  <a:hlinkClick r:id="rId7"/>
                </a:rPr>
                <a:t>adcis.net/en/third-party/messidor2</a:t>
              </a:r>
              <a:endParaRPr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endParaRPr sz="1500" b="1">
                <a:solidFill>
                  <a:srgbClr val="02809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6286500" y="1389854"/>
            <a:ext cx="5334000" cy="4703312"/>
            <a:chOff x="6286500" y="1285875"/>
            <a:chExt cx="5334000" cy="3524400"/>
          </a:xfrm>
        </p:grpSpPr>
        <p:sp>
          <p:nvSpPr>
            <p:cNvPr id="182" name="Google Shape;182;p19"/>
            <p:cNvSpPr/>
            <p:nvPr/>
          </p:nvSpPr>
          <p:spPr>
            <a:xfrm>
              <a:off x="6286500" y="1285875"/>
              <a:ext cx="5334000" cy="352440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19050" cap="flat" cmpd="sng">
              <a:solidFill>
                <a:srgbClr val="E4EC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6286500" y="1285875"/>
              <a:ext cx="5334000" cy="476400"/>
            </a:xfrm>
            <a:prstGeom prst="roundRect">
              <a:avLst>
                <a:gd name="adj" fmla="val 32000"/>
              </a:avLst>
            </a:prstGeom>
            <a:solidFill>
              <a:srgbClr val="02809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6286500" y="1571625"/>
              <a:ext cx="5334000" cy="19050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6477000" y="1285875"/>
              <a:ext cx="495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Research and Existing Solutions</a:t>
              </a:r>
              <a:endParaRPr sz="1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6477000" y="1905000"/>
              <a:ext cx="4953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 b="1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🔗Research</a:t>
              </a:r>
              <a:endParaRPr sz="1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Poppins"/>
                <a:buChar char="●"/>
              </a:pPr>
              <a:r>
                <a:rPr lang="en-US" b="1" u="sng">
                  <a:solidFill>
                    <a:schemeClr val="hlink"/>
                  </a:solidFill>
                  <a:latin typeface="Poppins"/>
                  <a:ea typeface="Poppins"/>
                  <a:cs typeface="Poppins"/>
                  <a:sym typeface="Poppins"/>
                  <a:hlinkClick r:id="rId8"/>
                </a:rPr>
                <a:t>Explanatory artificial intelligence for diabetic retinopathy diagnosis</a:t>
              </a:r>
              <a:r>
                <a:rPr lang="en-US" b="1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 (August 2021)</a:t>
              </a:r>
              <a:endParaRPr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Poppins"/>
                <a:buChar char="●"/>
              </a:pPr>
              <a:r>
                <a:rPr lang="en-US" b="1" u="sng">
                  <a:solidFill>
                    <a:schemeClr val="hlink"/>
                  </a:solidFill>
                  <a:latin typeface="Poppins"/>
                  <a:ea typeface="Poppins"/>
                  <a:cs typeface="Poppins"/>
                  <a:sym typeface="Poppins"/>
                  <a:hlinkClick r:id="rId9"/>
                </a:rPr>
                <a:t>Diabetic Retinopathy – Segmentation and Grading Challenge</a:t>
              </a:r>
              <a:r>
                <a:rPr lang="en-US" b="1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 (January 2020)</a:t>
              </a:r>
              <a:endParaRPr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Font typeface="Poppins"/>
                <a:buChar char="●"/>
              </a:pPr>
              <a:r>
                <a:rPr lang="en-US" b="1" u="sng">
                  <a:solidFill>
                    <a:schemeClr val="hlink"/>
                  </a:solidFill>
                  <a:latin typeface="Poppins"/>
                  <a:ea typeface="Poppins"/>
                  <a:cs typeface="Poppins"/>
                  <a:sym typeface="Poppins"/>
                  <a:hlinkClick r:id="rId10"/>
                </a:rPr>
                <a:t>Explainable CNN-Based Framework for Diabetic Retinopathy</a:t>
              </a:r>
              <a:r>
                <a:rPr lang="en-US" b="1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 (September 2025)</a:t>
              </a:r>
              <a:endParaRPr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 b="1">
                  <a:solidFill>
                    <a:schemeClr val="dk2"/>
                  </a:solidFill>
                  <a:latin typeface="Poppins"/>
                  <a:ea typeface="Poppins"/>
                  <a:cs typeface="Poppins"/>
                  <a:sym typeface="Poppins"/>
                </a:rPr>
                <a:t>🔗Existing AI Screening</a:t>
              </a:r>
              <a:endParaRPr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Char char="●"/>
              </a:pPr>
              <a:r>
                <a:rPr lang="en-US" b="1" u="sng">
                  <a:solidFill>
                    <a:schemeClr val="hlink"/>
                  </a:solidFill>
                  <a:latin typeface="Poppins"/>
                  <a:ea typeface="Poppins"/>
                  <a:cs typeface="Poppins"/>
                  <a:sym typeface="Poppins"/>
                  <a:hlinkClick r:id="rId11"/>
                </a:rPr>
                <a:t>Luminetics Core</a:t>
              </a:r>
              <a:r>
                <a:rPr lang="en-US" b="1" u="sng">
                  <a:solidFill>
                    <a:schemeClr val="hlink"/>
                  </a:solidFill>
                  <a:latin typeface="Poppins"/>
                  <a:ea typeface="Poppins"/>
                  <a:cs typeface="Poppins"/>
                  <a:sym typeface="Poppins"/>
                  <a:hlinkClick r:id="rId11"/>
                </a:rPr>
                <a:t>® - Digital Diagnostics</a:t>
              </a:r>
              <a:endParaRPr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Char char="●"/>
              </a:pPr>
              <a:r>
                <a:rPr lang="en-US" b="1" u="sng">
                  <a:solidFill>
                    <a:schemeClr val="hlink"/>
                  </a:solidFill>
                  <a:latin typeface="Poppins"/>
                  <a:ea typeface="Poppins"/>
                  <a:cs typeface="Poppins"/>
                  <a:sym typeface="Poppins"/>
                  <a:hlinkClick r:id="rId12"/>
                </a:rPr>
                <a:t>AEYE Health</a:t>
              </a:r>
              <a:endParaRPr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endParaRPr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87" name="Google Shape;187;p19" title="ChatGPT Image Sep 1, 2026, 08_09_13 PM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7025" y="0"/>
            <a:ext cx="1389774" cy="138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Times New Roman</vt:lpstr>
      <vt:lpstr>Oswald</vt:lpstr>
      <vt:lpstr>Calibri</vt:lpstr>
      <vt:lpstr>Arial</vt:lpstr>
      <vt:lpstr>Poppins SemiBold</vt:lpstr>
      <vt:lpstr>Poppins</vt:lpstr>
      <vt:lpstr>Office Theme</vt:lpstr>
      <vt:lpstr>SMART INDIA HACKATHON 2026</vt:lpstr>
      <vt:lpstr>PROPOSED SOLUTION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Vihaan Aptekar</cp:lastModifiedBy>
  <cp:revision>1</cp:revision>
  <dcterms:modified xsi:type="dcterms:W3CDTF">2026-09-04T09:29:19Z</dcterms:modified>
</cp:coreProperties>
</file>